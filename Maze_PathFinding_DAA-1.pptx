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1E293B"/>
                </a:solidFill>
                <a:latin typeface="+mn-lt"/>
              </a:rPr>
              <a:t>Time (ms, log scale) vs grid side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BFS</c:v>
                </c:pt>
              </c:strCache>
            </c:strRef>
          </c:tx>
          <c:spPr>
            <a:ln w="31750" cap="flat">
              <a:solidFill>
                <a:srgbClr val="0E9F9A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E9F9A"/>
              </a:solidFill>
              <a:ln w="9525" cap="flat">
                <a:solidFill>
                  <a:srgbClr val="0E9F9A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500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0.20219999999999999</c:v>
                </c:pt>
                <c:pt idx="1">
                  <c:v>0.98109999999999997</c:v>
                </c:pt>
                <c:pt idx="2">
                  <c:v>1.8556999999999999</c:v>
                </c:pt>
                <c:pt idx="3">
                  <c:v>62.421599999999998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220-8943-B394-E23347A009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DFS</c:v>
                </c:pt>
              </c:strCache>
            </c:strRef>
          </c:tx>
          <c:spPr>
            <a:ln w="3175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500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7.9399999999999998E-2</c:v>
                </c:pt>
                <c:pt idx="1">
                  <c:v>0.28799999999999998</c:v>
                </c:pt>
                <c:pt idx="2">
                  <c:v>0.19650000000000001</c:v>
                </c:pt>
                <c:pt idx="3">
                  <c:v>12.204800000000001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220-8943-B394-E23347A0093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Dijkstra</c:v>
                </c:pt>
              </c:strCache>
            </c:strRef>
          </c:tx>
          <c:spPr>
            <a:ln w="31750" cap="flat">
              <a:solidFill>
                <a:srgbClr val="0F172A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F172A"/>
              </a:solidFill>
              <a:ln w="9525" cap="flat">
                <a:solidFill>
                  <a:srgbClr val="0F172A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500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0.18049999999999999</c:v>
                </c:pt>
                <c:pt idx="1">
                  <c:v>0.8891</c:v>
                </c:pt>
                <c:pt idx="2">
                  <c:v>2.7162999999999999</c:v>
                </c:pt>
                <c:pt idx="3">
                  <c:v>103.5809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220-8943-B394-E23347A0093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A*</c:v>
                </c:pt>
              </c:strCache>
            </c:strRef>
          </c:tx>
          <c:spPr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500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0.1057</c:v>
                </c:pt>
                <c:pt idx="1">
                  <c:v>0.27929999999999999</c:v>
                </c:pt>
                <c:pt idx="2">
                  <c:v>1.0213000000000001</c:v>
                </c:pt>
                <c:pt idx="3">
                  <c:v>28.593800000000002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220-8943-B394-E23347A009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</c:scaling>
        <c:delete val="0"/>
        <c:axPos val="l"/>
        <c:majorGridlines>
          <c:spPr>
            <a:ln w="6350" cap="flat">
              <a:solidFill>
                <a:srgbClr val="D9E0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7EE30D-6576-7345-9868-27FC2D5FD9D7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52AA1-ED2A-584B-8DB1-33027B960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357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7315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Maze and Path-Finding Optimization System</a:t>
            </a:r>
          </a:p>
          <a:p>
            <a:pPr marL="0" indent="0">
              <a:buNone/>
            </a:pPr>
            <a:endParaRPr lang="en-US" sz="3800" b="1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DE3DE"/>
                </a:solidFill>
              </a:rPr>
              <a:t>BFS · DFS · Dijkstra’s Algorithm · A*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51760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2E8F0"/>
                </a:solidFill>
              </a:rPr>
              <a:t>Course: Design and Analysis of Algorithms · 5th Semester  [ IT-B ]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2E8F0"/>
                </a:solidFill>
              </a:rPr>
              <a:t>Group No.: [ 4 ]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2E8F0"/>
                </a:solidFill>
              </a:rPr>
              <a:t>Patel Nihira (12402080601094)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2E8F0"/>
                </a:solidFill>
              </a:rPr>
              <a:t>Patel Niyati (12402080601097)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2E8F0"/>
                </a:solidFill>
              </a:rPr>
              <a:t>Patel Riddhi (12402080601115)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2E8F0"/>
                </a:solidFill>
              </a:rPr>
              <a:t>Rana Riyancee (12402080601119)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2E8F0"/>
                </a:solidFill>
              </a:rPr>
              <a:t>Faculty: Yamini Dubey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54864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Maze and Path-Finding Optimization System · DAA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Find the best route through a maze from a source to a destination, and compare how different algorithms do 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965960" cy="29718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783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F9A"/>
                </a:solidFill>
              </a:rPr>
              <a:t>Input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148840"/>
            <a:ext cx="16916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Grid of R × C cells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Walls and mud cells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Source and destination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1691640"/>
            <a:ext cx="1965960" cy="29718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783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F9A"/>
                </a:solidFill>
              </a:rPr>
              <a:t>Output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148840"/>
            <a:ext cx="16916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Path (list of cells)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Path length and cost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Cells explored, time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691640"/>
            <a:ext cx="1965960" cy="29718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1783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F9A"/>
                </a:solidFill>
              </a:rPr>
              <a:t>Constraints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2148840"/>
            <a:ext cx="16916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4-direction moves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Normal cell costs 1, mud costs 5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Walls cannot be crossed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0" y="1691640"/>
            <a:ext cx="1920240" cy="29718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F9A"/>
                </a:solidFill>
              </a:rPr>
              <a:t>Objective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148840"/>
            <a:ext cx="16459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Minimum-cost path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Compare BFS, DFS, Dijkstra, A* on length, time and explored nodes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Motivation and Real-World Applications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54864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Maze and Path-Finding Optimization System · DAA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F9A"/>
                </a:solidFill>
              </a:rPr>
              <a:t>Why it matters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0020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Shortest-path search is a core graph problem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Choice of algorithm changes speed and memory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Wrong choice gives long or costly routes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F9A"/>
                </a:solidFill>
              </a:rPr>
              <a:t>Where it is used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60020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GPS and map navigation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Game AI and NPC movement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Robot and drone planning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Network packet routing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F9A"/>
                </a:solidFill>
              </a:rPr>
              <a:t>Who benefits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60020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Students learning DAA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Developers picking a path-finder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Robotics and game teams that need fast, optimal routes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54864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Maze and Path-Finding Optimization System · DAA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24712"/>
            <a:ext cx="420624" cy="420624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24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09728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Implement BFS, DFS, Dijkstra and A* from scratch on a grid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709928"/>
            <a:ext cx="420624" cy="420624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68249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Build an interactive maze editor with walls, mud, start and end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295144"/>
            <a:ext cx="420624" cy="420624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95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26771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Visualize each algorithm’s exploration step by step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20624" cy="420624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85292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Measure path length, cost, explored cells, run time and frontier size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465576"/>
            <a:ext cx="420624" cy="420624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465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43814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Test on grids of 10, 50, 100 and 500 per side and compare results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050792"/>
            <a:ext cx="420624" cy="420624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050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0233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Verify optimality and explain the results with complexity analysis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Existing Approach and Limitations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54864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Maze and Path-Finding Optimization System · DAA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F9A"/>
                </a:solidFill>
              </a:rPr>
              <a:t>Existing / basic approach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0020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Plain DFS or BFS used alone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Fixed algorithm, no comparison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Manual trial and error on small mazes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F9A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60020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DFS can return very long paths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BFS ignores cell weights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Dijkstra explores in all directions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No view of time vs explored cells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7033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Need: one system that runs all four algorithms on the same maze and measures them fairly.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Proposed Approach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54864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Maze and Path-Finding Optimization System · DAA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0F172A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252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 Problem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45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</a:rPr>
              <a:t>Shortest path in a weighted grid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22576" y="1645920"/>
            <a:ext cx="228600" cy="22860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87752" y="11430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0E9F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79192" y="1252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F9A"/>
                </a:solidFill>
              </a:rPr>
              <a:t>2 Input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679192" y="1645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Draw or generate the maze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53128" y="1645920"/>
            <a:ext cx="228600" cy="22860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18304" y="11430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0E9F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9744" y="1252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F9A"/>
                </a:solidFill>
              </a:rPr>
              <a:t>3 Algorithm choice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09744" y="1645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BFS, DFS, Dijkstra, A*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1645920"/>
            <a:ext cx="228600" cy="22860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48856" y="11430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0E9F9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0296" y="1252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F9A"/>
                </a:solidFill>
              </a:rPr>
              <a:t>4 Pseudocode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40296" y="1645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Queue, stack, min-heap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626096" y="2423160"/>
            <a:ext cx="274320" cy="457200"/>
          </a:xfrm>
          <a:prstGeom prst="down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48856" y="30632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0E9F9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40296" y="31729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F9A"/>
                </a:solidFill>
              </a:rPr>
              <a:t>5 Implementation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40296" y="3566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JavaScript, canvas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18304" y="30632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0E9F9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09744" y="31729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F9A"/>
                </a:solidFill>
              </a:rPr>
              <a:t>6 Testing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809744" y="3566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Sizes 10 to 500, 5 layouts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83680" y="3566160"/>
            <a:ext cx="228600" cy="228600"/>
          </a:xfrm>
          <a:prstGeom prst="lef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87752" y="30632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0E9F9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79192" y="31729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F9A"/>
                </a:solidFill>
              </a:rPr>
              <a:t>7 Comparison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2679192" y="3566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Time, cells, cost, space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453128" y="3566160"/>
            <a:ext cx="228600" cy="228600"/>
          </a:xfrm>
          <a:prstGeom prst="lef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0632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0F172A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31729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 Conclusion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3566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</a:rPr>
              <a:t>Pick best per situation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322576" y="3566160"/>
            <a:ext cx="228600" cy="228600"/>
          </a:xfrm>
          <a:prstGeom prst="lef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Algorithms Used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54864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Maze and Path-Finding Optimization System · DAA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28346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Basic idea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Why selected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 structure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BFS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Expands level by level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Shortest path when costs are equal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Queue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DFS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Goes deep, then backtracks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Low memory baseline; shows non-optimality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Stack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Dijkstra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Always expands lowest total cost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Optimal with weights (mud)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Min-heap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A*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Dijkstra + Manhattan estimate to goal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Optimal with fewer explored cells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Min-heap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Algorithm / Pseudocode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54864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Maze and Path-Finding Optimization System · DAA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3931920" cy="246888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BFS(s, t):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 ← queue{s}; seen[s] ← true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Q not empty: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 ← dequeue(Q)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u = t: return path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v in neighbours(u):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not seen[v]: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seen[v] ← true; parent[v] ← u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enqueue(Q, v)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NO PATH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097280"/>
            <a:ext cx="4114800" cy="246888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Dijkstra / A*(s, t):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dist[s] ← 0; PQ ← {(0, s)}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PQ not empty: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 ← extract-min(PQ)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u = t: return path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v in neighbours(u):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nd ← dist[u] + w(v)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nd &lt; dist[v]: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dist[v] ← nd; parent[v] ← u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push(PQ, nd [+ h(v) for A*])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794760"/>
            <a:ext cx="196596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9F9A"/>
                </a:solidFill>
              </a:rPr>
              <a:t>BFS  O(V+E) · O(V)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532888" y="3794760"/>
            <a:ext cx="196596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9F9A"/>
                </a:solidFill>
              </a:rPr>
              <a:t>DFS  O(V+E) · O(V)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608576" y="3794760"/>
            <a:ext cx="196596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9F9A"/>
                </a:solidFill>
              </a:rPr>
              <a:t>Dijkstra  O((V+E) log V) · O(V)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84264" y="3794760"/>
            <a:ext cx="196596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9F9A"/>
                </a:solidFill>
              </a:rPr>
              <a:t>A*  O(E) to O(b^d) · O(V)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DFS uses a stack instead of a queue; A* uses h(n) = |Δrow| + |Δcol|.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System Design /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54864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Maze and Path-Finding Optimization System · DAA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14630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User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86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Draw walls, mud; pick algorithm and speed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47672" y="1645920"/>
            <a:ext cx="173736" cy="201168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12801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48840" y="1280160"/>
            <a:ext cx="14630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Maze Module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2286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Generate, edit, store grid g[R][C]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39312" y="1645920"/>
            <a:ext cx="173736" cy="201168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12801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40480" y="1280160"/>
            <a:ext cx="14630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Algorithm Engine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2286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BFS · DFS · Dijkstra · A*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30952" y="1645920"/>
            <a:ext cx="173736" cy="201168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32120" y="12801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32120" y="1280160"/>
            <a:ext cx="14630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Metrics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2286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Path, cost, cells, time, frontier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22592" y="1645920"/>
            <a:ext cx="173736" cy="201168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0" y="12801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23760" y="1280160"/>
            <a:ext cx="14630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Output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2286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Animation, table, bar charts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33375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F9A"/>
                </a:solidFill>
              </a:rPr>
              <a:t>Data flow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370332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Click or drag edits the grid state, then Run calls solve(alg)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solve returns {path, order, cost, time, frontier}; draw() animates the order, then the path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“Compare all 4” runs every algorithm on the same grid and fills the table and charts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Implementation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54864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Maze and Path-Finding Optimization System · DAA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F9A"/>
                </a:solidFill>
              </a:rPr>
              <a:t>Tools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0020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HTML, CSS, JavaScript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Canvas for the grid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No external libraries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performance.now() for timing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F9A"/>
                </a:solidFill>
              </a:rPr>
              <a:t>Modules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60020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Maze generator (recursive backtracking)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Editor (pointer events)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solve(alg) engine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Animator and renderer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Comparison dashboard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F9A"/>
                </a:solidFill>
              </a:rPr>
              <a:t>Data structures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60020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2D array: -1 wall, 1 normal, 5 mud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Queue (array + head index)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Stack (array)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Binary min-heap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Arrays: dist, parent, seen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Project Screenshots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54864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Maze and Path-Finding Optimization System · DAA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11</a:t>
            </a:r>
            <a:endParaRPr lang="en-US" sz="1000" dirty="0"/>
          </a:p>
        </p:txBody>
      </p:sp>
      <p:pic>
        <p:nvPicPr>
          <p:cNvPr id="6" name="Image 0" descr="r_gri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4572000" cy="3008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507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Processing and output: A* on a 31×61 maze with loops. Explored cells are shaded, final path is orange.</a:t>
            </a:r>
            <a:endParaRPr lang="en-US" sz="1100" dirty="0"/>
          </a:p>
        </p:txBody>
      </p:sp>
      <p:pic>
        <p:nvPicPr>
          <p:cNvPr id="8" name="Image 1" descr="r_u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005840"/>
            <a:ext cx="3383280" cy="18013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303520" y="2834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Input: layout, grid size, drawing tool and algorithm controls</a:t>
            </a:r>
            <a:endParaRPr lang="en-US" sz="1100" dirty="0"/>
          </a:p>
        </p:txBody>
      </p:sp>
      <p:pic>
        <p:nvPicPr>
          <p:cNvPr id="10" name="Image 2" descr="r_ou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3246120"/>
            <a:ext cx="1508760" cy="158191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949440" y="32918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E9F9A"/>
                </a:solidFill>
              </a:rPr>
              <a:t>Result / performance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A*: 126 steps, cost 126, 650 cells explored, 66 µs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Results: Input Size vs Execution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54864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Maze and Path-Finding Optimization System · DAA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114800" cy="199339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Grid (20% walls)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BFS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DFS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Dijkstra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A*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10×10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0.202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0.079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0.181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0.106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50×50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0.981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0.288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0.889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0.279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100×100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1.86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0.197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2.72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1.02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500×500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62.4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12.2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103.6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28.6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108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Time in ms (average of repeated runs)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4747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500×500 cells explored: BFS and Dijkstra 199,321, A* 40,840, DFS 30,124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Optimal cost 998; DFS path cost 3380</a:t>
            </a:r>
            <a:endParaRPr lang="en-US" sz="12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754880" y="1051560"/>
          <a:ext cx="402336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Complexity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54864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Maze and Path-Finding Optimization System · DAA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057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Best case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Average case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Worst case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Space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BFS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O(1) goal found early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O(V+E)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O(V+E)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O(V)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DFS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O(1)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O(V+E)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O(V+E)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O(V)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Dijkstra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O(1)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O((V+E) log V)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O((V+E) log V)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O(V)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A*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O(d) with a perfect heuristic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Depends on h(n)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O(b^d)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O(V)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F9A"/>
                </a:solidFill>
              </a:rPr>
              <a:t>Theory vs practice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118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Dijkstra and BFS explore the same 199,321 cells at 500×500, but Dijkstra takes 103.6 ms vs 62.4 ms because of heap work (log V)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A* explores 4.9× fewer cells than Dijkstra and runs 3.6× faster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DFS is fastest on some runs but returns a path 3.4× costlier than optimal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Advantages, Limitations and Future Scope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54864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Maze and Path-Finding Optimization System · DAA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F9A"/>
                </a:solidFill>
              </a:rPr>
              <a:t>Advantages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0020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All four algorithms on one maze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Live animation and metrics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Handles weighted cells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Runs in any browser, no install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F9A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60020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4-direction moves only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Timing varies by device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Browser memory limits very large grids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Heuristic fixed to Manhattan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F9A"/>
                </a:solidFill>
              </a:rPr>
              <a:t>Future scope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60020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Diagonal moves and Euclidean heuristic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Bidirectional search, Jump Point Search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Dynamic obstacles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Export results as CSV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Conclusion and References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54864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Maze and Path-Finding Optimization System · DAA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All four algorithms were implemented and tested on grids up to 500×500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BFS = Dijkstra on equal costs; only Dijkstra and A* stay optimal with mud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A* gave optimal paths with the fewest explored cells among optimal methods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DFS is cheap but not optimal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9728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E9F9A"/>
                </a:solidFill>
              </a:rPr>
              <a:t>References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Cormen, Leiserson, Rivest, Stein, Introduction to Algorithms, MIT Press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Dijkstra, “A note on two problems in connexion with graphs”, Numerische Mathematik, 1959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Hart, Nilsson, Raphael, “A formal basis for the heuristic determination of minimum cost paths”, IEEE Trans. SSC, 1968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Russell and Norvig, Artificial Intelligence: A Modern Approach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MDN Web Docs: Canvas API, Performance.now()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1555</Words>
  <Application>Microsoft Office PowerPoint</Application>
  <PresentationFormat>On-screen Show (16:9)</PresentationFormat>
  <Paragraphs>296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Maze and Path-Finding Optimization System</dc:title>
  <dc:subject>PptxGenJS Presentation</dc:subject>
  <dc:creator>PptxGenJS</dc:creator>
  <cp:lastModifiedBy>12302080603002</cp:lastModifiedBy>
  <cp:revision>3</cp:revision>
  <dcterms:created xsi:type="dcterms:W3CDTF">2026-10-23T05:06:10Z</dcterms:created>
  <dcterms:modified xsi:type="dcterms:W3CDTF">2026-10-24T12:13:52Z</dcterms:modified>
</cp:coreProperties>
</file>